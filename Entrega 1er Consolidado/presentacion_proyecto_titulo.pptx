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487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B5BD2">
              <a:alpha val="20000"/>
            </a:srgbClr>
          </a:solidFill>
          <a:ln w="12700">
            <a:solidFill>
              <a:srgbClr val="6B5BD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TÍTULO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Predictivo de Resultados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6B5B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 League 2017/2025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5486400" cy="0"/>
          </a:xfrm>
          <a:prstGeom prst="line">
            <a:avLst/>
          </a:prstGeom>
          <a:noFill/>
          <a:ln w="1905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 Benavides</a:t>
            </a: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r>
              <a:rPr lang="en-US" sz="1800" b="1" dirty="0">
                <a:solidFill>
                  <a:srgbClr val="5BA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 Valdovinos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 ·  Clasificación supervisada  ·  Premier League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Santiago, Chile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Presentación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384048" y="10332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84048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motivación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predecir la Premier League?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864608" y="10332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64608" y="1033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y específicos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2199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384048" y="2386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384048" y="2386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2359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bibliográfica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7249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papers analizados: EPL, ML, modelos estadísticos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864608" y="238658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864608" y="238658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2359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y metodología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27249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 partidos, 98 features, TimeSeriesSplit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575304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84048" y="373989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09B24"/>
          </a:solidFill>
          <a:ln w="12700">
            <a:solidFill>
              <a:srgbClr val="E09B2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84048" y="3739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60120" y="3712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preliminares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078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modelos vs. baseline mercado de apuestas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75304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864608" y="3739896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864608" y="3739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40680" y="37124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078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 semanas — estado actual y pendientes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Motivación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2011680" cy="715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3.200M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" y="1538935"/>
            <a:ext cx="201168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espectadores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globales EPL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8229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404872" y="896112"/>
            <a:ext cx="2011680" cy="715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04872" y="1538935"/>
            <a:ext cx="201168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temporada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81144" y="8229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81144" y="896112"/>
            <a:ext cx="2011680" cy="715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81144" y="1538935"/>
            <a:ext cx="201168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temporadas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57416" y="82296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57416" y="896112"/>
            <a:ext cx="2011680" cy="715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62–65%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57416" y="1538935"/>
            <a:ext cx="201168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 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apuestas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212848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65760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la Premier League?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más seguida del mundo con alta competitividad. El menor diferencial entre equipos la hace más difícil de predecir que otras ligas europeas.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72968" y="2212848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310128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de clasificación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272491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Predecir victoria local (1) vs. no victoria (0) a partir de datos históricos, sin ver el futuro. Variable objetivo binaria: target_home_win.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17336" y="2212848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254496" y="2322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con el mercado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272491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casas de apuestas aciertan ~63% de los resultados binarios. Superar ese umbral con datos históricos es el benchmark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411480" y="7955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GENERAL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0789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 modelo ML que prediga la victoria local en la Premier League (2017–2025), superando el desempeño del mercado de apuestas como referencia.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956816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Recolectar y limpiar datos históricos de 8 temporadas (3.634 partidos, Premier League).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847088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773168" y="202996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773168" y="2029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1956816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98 features: forma rolling, head-to-head, calidad de plantel y cuotas del mercado.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65760" y="305409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65760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2980944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Entrenar 6 algoritmos supervisados con validación cruzada temporal (TimeSeriesSplit).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81728" y="2871216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773168" y="305409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773168" y="3054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980944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modelos con métricas: Accuracy, F1-Score, ROC-AUC y Brier Score.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895344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40782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65760" y="4078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400507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SHAP values e importancia Gini para interpretar las predicciones del modelo.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81728" y="3895344"/>
            <a:ext cx="4114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4773168" y="407822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4773168" y="4078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400507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el proceso en informe académico y defensa del proyecto de título.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Bibliográfica — 6 Papers Analizados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749808"/>
            <a:ext cx="2286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19456" y="749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749808"/>
            <a:ext cx="13716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505456" y="7498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/ Contexto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22192" y="749808"/>
            <a:ext cx="13716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877056" y="74980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Resultado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93792" y="749808"/>
            <a:ext cx="15544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248656" y="749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48272" y="749808"/>
            <a:ext cx="22860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803136" y="7498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Aporte / Limitación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" y="1115568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19456" y="1152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Vujčić et al. (2026)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1115568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2505456" y="11521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 — fbref.com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22192" y="1115568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877056" y="115214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RF: 77.01%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93792" y="1115568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248656" y="115214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LR, NB, kNN, MLP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48272" y="1115568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803136" y="1152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estudio con 7 algoritmos en EPL; sin validación temporal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1746504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219456" y="17830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Ajulo &amp; Tiamiyu (2026)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50592" y="1746504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505456" y="178308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 2021–2025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22192" y="1746504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3877056" y="178308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RF: 87.14%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AUC: 99%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93792" y="1746504"/>
            <a:ext cx="155448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5248656" y="178308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RF, XGBoost, LightGBM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48272" y="1746504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6803136" y="178308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Mejores métricas reportadas; posible sobreajuste por dataset pequeño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4592" y="2377440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219456" y="241401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Ravichandran (2026)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50592" y="2377440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2505456" y="24140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 — CRISP-DM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22192" y="2377440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3877056" y="241401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+ SHAP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93792" y="2377440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5248656" y="2414016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GBM, RF, LR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48272" y="2377440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6803136" y="241401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SHAP para interpretabilidad; alineado con nuestro enfoque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4592" y="3008376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219456" y="30449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Chowdary (2026)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50592" y="3008376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2505456" y="304495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/ EPL val.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822192" y="3008376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3877056" y="304495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 &gt; Elo (p=0.003)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193792" y="3008376"/>
            <a:ext cx="155448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5248656" y="30449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RPM, Elo, XGBoost, LR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48272" y="3008376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6803136" y="304495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pares de equipos; validación cruzada en EPL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4592" y="3639312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219456" y="367588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Ridall et al. (2025)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450592" y="3639312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2505456" y="36758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EPL 2010–2024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822192" y="3639312"/>
            <a:ext cx="1371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3877056" y="3675888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SSM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93792" y="3639312"/>
            <a:ext cx="1554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5248656" y="3675888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Bayesianos estado-espacio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748272" y="3639312"/>
            <a:ext cx="22860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6803136" y="367588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superior; no usa ML clásico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64592" y="4270248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219456" y="43068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Howell et al. (2026)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450592" y="4270248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2505456" y="430682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League 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822192" y="4270248"/>
            <a:ext cx="13716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/>
          <p:nvPr/>
        </p:nvSpPr>
        <p:spPr>
          <a:xfrm>
            <a:off x="3877056" y="430682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estadístico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193792" y="4270248"/>
            <a:ext cx="155448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71"/>
          <p:cNvSpPr/>
          <p:nvPr/>
        </p:nvSpPr>
        <p:spPr>
          <a:xfrm>
            <a:off x="5248656" y="4306824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Regresión logística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748272" y="4270248"/>
            <a:ext cx="2286000" cy="603504"/>
          </a:xfrm>
          <a:prstGeom prst="rect">
            <a:avLst/>
          </a:prstGeom>
          <a:solidFill>
            <a:srgbClr val="F0EFF9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6803136" y="430682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técnicos en PL2; no generalizable a EPL senior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considerados en la revisión: Vujčić 2026 · Ajulo 2026 · Ravichandran 2026 · Chowdary 2026 · Ridall 2025 · Howell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Premier League 2017–2025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01168" y="877824"/>
            <a:ext cx="196596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" y="1441094"/>
            <a:ext cx="196596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80467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377440" y="877824"/>
            <a:ext cx="196596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77440" y="1441094"/>
            <a:ext cx="196596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53712" y="80467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53712" y="877824"/>
            <a:ext cx="196596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53712" y="1441094"/>
            <a:ext cx="196596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temporadas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9984" y="804672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29984" y="877824"/>
            <a:ext cx="1965960" cy="636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9984" y="1441094"/>
            <a:ext cx="1965960" cy="41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nulos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" y="202996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10896" y="2139696"/>
            <a:ext cx="2926080" cy="274320"/>
          </a:xfrm>
          <a:prstGeom prst="roundRect">
            <a:avLst>
              <a:gd name="adj" fmla="val 4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10896" y="2139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Rolling (5 partidos)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" y="24871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home/away_roll_goals, _points,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_win, _loss, _shots, _corners, _streak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36008" y="202996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745736" y="2139696"/>
            <a:ext cx="2926080" cy="274320"/>
          </a:xfrm>
          <a:prstGeom prst="roundRect">
            <a:avLst>
              <a:gd name="adj" fmla="val 4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745736" y="2139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Estadísticas de Temporada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73168" y="24871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home/away_season_points, _gd,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_wins, _goals_for, _goals_against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1168" y="340156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310896" y="3511296"/>
            <a:ext cx="2926080" cy="274320"/>
          </a:xfrm>
          <a:prstGeom prst="roundRect">
            <a:avLst>
              <a:gd name="adj" fmla="val 4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310896" y="3511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" y="3858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h2h_home_wins, _away_wins,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_draws, _goals_avg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36008" y="3401568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4745736" y="3511296"/>
            <a:ext cx="2926080" cy="274320"/>
          </a:xfrm>
          <a:prstGeom prst="roundRect">
            <a:avLst>
              <a:gd name="adj" fmla="val 4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745736" y="3511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&amp; Jugadores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385876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odds_home_prob, odds_away_prob,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diff_squad_age, diff_gk_save_pct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— Distribución de Clases y Correlación con Target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749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 clases (target_home_win)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78992"/>
            <a:ext cx="41148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7498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features por correlación con target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78992"/>
            <a:ext cx="438912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" y="25786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44.4% victorias locales (1) vs. 55.6% no victorias (0) — leve desbalance manejable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82880" y="3127248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probabilidades implícitas del mercado </a:t>
            </a:r>
            <a:r>
              <a:rPr lang="en-US" sz="11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(odds_home_prob, odds_away_prob)</a:t>
            </a: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lideran la correlación, seguidas por </a:t>
            </a:r>
            <a:r>
              <a:rPr lang="en-US" sz="11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diff_roll_points</a:t>
            </a: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1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diff_roll_win</a:t>
            </a: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(forma reciente).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— Pipeline del Proyecto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" y="100584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" y="1719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" y="21488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 partidos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2017–2025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87068" y="1828800"/>
            <a:ext cx="283464" cy="365760"/>
          </a:xfrm>
          <a:prstGeom prst="rightArrow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1988820" y="100584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24688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46888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88820" y="1719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0260" y="21488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variables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(v1→v2→v3)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15868" y="1828800"/>
            <a:ext cx="283464" cy="365760"/>
          </a:xfrm>
          <a:prstGeom prst="rightArrow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3817620" y="100584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2976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29768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17620" y="1719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09060" y="21488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Correlaciones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distribución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4668" y="1828800"/>
            <a:ext cx="283464" cy="365760"/>
          </a:xfrm>
          <a:prstGeom prst="rightArrow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5646420" y="100584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61264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12648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46420" y="1719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37860" y="21488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algoritmos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TimeSeriesSplit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3468" y="1828800"/>
            <a:ext cx="283464" cy="365760"/>
          </a:xfrm>
          <a:prstGeom prst="rightArrow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7475220" y="100584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7955280" y="1078992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E09B24"/>
          </a:solidFill>
          <a:ln w="12700">
            <a:solidFill>
              <a:srgbClr val="E09B2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795528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75220" y="1719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566660" y="21488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Acc, F1, AUC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Brier Score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97280" y="3657600"/>
            <a:ext cx="6949440" cy="1234440"/>
          </a:xfrm>
          <a:prstGeom prst="roundRect">
            <a:avLst>
              <a:gd name="adj" fmla="val 7407"/>
            </a:avLst>
          </a:prstGeom>
          <a:solidFill>
            <a:srgbClr val="EEEDFE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1280160" y="373075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temporal con TimeSeriesSplit (5 folds cronológicos)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07822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1: Entrena 17–18 → Valida 19  |  Fold 2: 17–19 → Valida 20  |  ...  |  Fold 5: 17–23 → Valida 24–25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 que el modelo nunca ve el futuro durante el entrenamiento. Evita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Preliminares — Comparación de Modelos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201168" y="877824"/>
            <a:ext cx="196596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74.69%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" y="1388059"/>
            <a:ext cx="19659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80467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377440" y="877824"/>
            <a:ext cx="196596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0.8027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377440" y="1388059"/>
            <a:ext cx="19659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53712" y="80467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553712" y="877824"/>
            <a:ext cx="196596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62.97%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53712" y="1388059"/>
            <a:ext cx="19659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apuestas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9984" y="804672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6729984" y="877824"/>
            <a:ext cx="1965960" cy="5833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+12pp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9984" y="1388059"/>
            <a:ext cx="19659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vs.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1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938528"/>
            <a:ext cx="8778240" cy="3017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modelos superan el baseline del mercado de apuestas (62.97%). Gradient Boosting: mejor accuracy. Random Forest: mejor AUC y Brier Score.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Preliminares — Curvas ROC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77240"/>
            <a:ext cx="4572000" cy="34015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84064" y="85953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699298" y="440555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logra el mejor AUC (0.8027) y Brier Score (0.1808). GBM lidera en accuracy (74.69%).</a:t>
            </a:r>
            <a:endParaRPr lang="en-US" sz="9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04F1F3B-9066-4A13-5BE6-EE1E0EB6BA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360" y="658367"/>
            <a:ext cx="3703320" cy="367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Preliminares — Features Importantes y Evolución del Modelo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7498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— GBM v3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78992"/>
            <a:ext cx="5120640" cy="2212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03520" y="749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F1-Score por versión del modelo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078992"/>
            <a:ext cx="3749040" cy="22128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3429000"/>
            <a:ext cx="8778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Shape 7"/>
          <p:cNvSpPr/>
          <p:nvPr/>
        </p:nvSpPr>
        <p:spPr>
          <a:xfrm>
            <a:off x="228600" y="346557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8"/>
          <p:cNvSpPr/>
          <p:nvPr/>
        </p:nvSpPr>
        <p:spPr>
          <a:xfrm>
            <a:off x="384048" y="346557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away_unbeaten_streak domina con 0.0997 de importancia Gini — racha invicta visitante es la variable más predictiva.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82880" y="3977640"/>
            <a:ext cx="8778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228600" y="401421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384048" y="401421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streak_clash (interacción de rachas) y odds_home_prob son el 2° y 3° factor más importante en la versión final.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82880" y="4526280"/>
            <a:ext cx="8778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228600" y="4562856"/>
            <a:ext cx="73152" cy="365760"/>
          </a:xfrm>
          <a:prstGeom prst="round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384048" y="456285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mantiene F1 estable (~0.68) en todas las versiones; LR y SVM mejoran +3pp al agregar features de jugadores.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 — Sprint 4 Semanas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804672"/>
            <a:ext cx="1463040" cy="274320"/>
          </a:xfrm>
          <a:prstGeom prst="roundRect">
            <a:avLst>
              <a:gd name="adj" fmla="val 4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645920" y="804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~60% completado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1645920" cy="274320"/>
          </a:xfrm>
          <a:prstGeom prst="roundRect">
            <a:avLst>
              <a:gd name="adj" fmla="val 40000"/>
            </a:avLst>
          </a:prstGeom>
          <a:solidFill>
            <a:srgbClr val="4A4A8A"/>
          </a:solidFill>
          <a:ln w="12700">
            <a:solidFill>
              <a:srgbClr val="4A4A8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200400" y="804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tareas pendientes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804672"/>
            <a:ext cx="1828800" cy="274320"/>
          </a:xfrm>
          <a:prstGeom prst="roundRect">
            <a:avLst>
              <a:gd name="adj" fmla="val 40000"/>
            </a:avLst>
          </a:prstGeom>
          <a:solidFill>
            <a:srgbClr val="E09B24"/>
          </a:solidFill>
          <a:ln w="12700">
            <a:solidFill>
              <a:srgbClr val="E09B2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937760" y="8046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Entrega: julio 2026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88720"/>
            <a:ext cx="8961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4FB"/>
          </a:solidFill>
          <a:ln w="12700">
            <a:solidFill>
              <a:srgbClr val="F5F4F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Trabajo — Tareas Pendientes por Integrante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74980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B5D4F4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82880" y="749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 Mejora modelos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74980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C0DD97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377440" y="749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 Validación avanzada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572000" y="749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 Análisis y resultados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749808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F4C0D1"/>
          </a:solidFill>
          <a:ln w="12700">
            <a:solidFill>
              <a:srgbClr val="F4C0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766560" y="74980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 Cierre y entrega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1325880"/>
            <a:ext cx="292608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219456" y="1325880"/>
            <a:ext cx="237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1325880"/>
            <a:ext cx="932688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12064" y="1325880"/>
            <a:ext cx="8778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08176" y="1325880"/>
            <a:ext cx="804672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444752" y="132588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12848" y="1325880"/>
            <a:ext cx="804672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249424" y="1325880"/>
            <a:ext cx="749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1325880"/>
            <a:ext cx="3200400" cy="3200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054096" y="1325880"/>
            <a:ext cx="31455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1664208"/>
            <a:ext cx="29260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10312" y="1682496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" y="1664208"/>
            <a:ext cx="93268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02920" y="1682496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modelos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08176" y="1664208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1435608" y="168249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12848" y="1664208"/>
            <a:ext cx="804672" cy="205740"/>
          </a:xfrm>
          <a:prstGeom prst="rect">
            <a:avLst/>
          </a:prstGeom>
          <a:solidFill>
            <a:srgbClr val="FAEEDA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2240280" y="168249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017520" y="1664208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3044952" y="1682496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GBM y RF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82880" y="1879092"/>
            <a:ext cx="29260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210312" y="1897380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" y="1879092"/>
            <a:ext cx="93268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502920" y="1897380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modelos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408176" y="1879092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/>
          <p:nvPr/>
        </p:nvSpPr>
        <p:spPr>
          <a:xfrm>
            <a:off x="1435608" y="189738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12848" y="1879092"/>
            <a:ext cx="804672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Text 39"/>
          <p:cNvSpPr/>
          <p:nvPr/>
        </p:nvSpPr>
        <p:spPr>
          <a:xfrm>
            <a:off x="2240280" y="189738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17520" y="1879092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3044952" y="1897380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Calibración de probabilidades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2880" y="2093976"/>
            <a:ext cx="29260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Text 43"/>
          <p:cNvSpPr/>
          <p:nvPr/>
        </p:nvSpPr>
        <p:spPr>
          <a:xfrm>
            <a:off x="210312" y="2112264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" y="2093976"/>
            <a:ext cx="93268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Text 45"/>
          <p:cNvSpPr/>
          <p:nvPr/>
        </p:nvSpPr>
        <p:spPr>
          <a:xfrm>
            <a:off x="502920" y="2112264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modelos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408176" y="2093976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1435608" y="211226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12848" y="2093976"/>
            <a:ext cx="804672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Text 49"/>
          <p:cNvSpPr/>
          <p:nvPr/>
        </p:nvSpPr>
        <p:spPr>
          <a:xfrm>
            <a:off x="2240280" y="211226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017520" y="2093976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51"/>
          <p:cNvSpPr/>
          <p:nvPr/>
        </p:nvSpPr>
        <p:spPr>
          <a:xfrm>
            <a:off x="3044952" y="2112264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data leakage (streak)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2880" y="2308860"/>
            <a:ext cx="29260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210312" y="2327148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" y="2308860"/>
            <a:ext cx="932688" cy="205740"/>
          </a:xfrm>
          <a:prstGeom prst="rect">
            <a:avLst/>
          </a:prstGeom>
          <a:solidFill>
            <a:srgbClr val="B5D4F4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Text 55"/>
          <p:cNvSpPr/>
          <p:nvPr/>
        </p:nvSpPr>
        <p:spPr>
          <a:xfrm>
            <a:off x="502920" y="2327148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modelos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408176" y="2308860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1435608" y="232714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12848" y="2308860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1" name="Text 59"/>
          <p:cNvSpPr/>
          <p:nvPr/>
        </p:nvSpPr>
        <p:spPr>
          <a:xfrm>
            <a:off x="2240280" y="232714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017520" y="2308860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3" name="Text 61"/>
          <p:cNvSpPr/>
          <p:nvPr/>
        </p:nvSpPr>
        <p:spPr>
          <a:xfrm>
            <a:off x="3044952" y="2327148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intro y contexto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2880" y="2523744"/>
            <a:ext cx="29260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5" name="Text 63"/>
          <p:cNvSpPr/>
          <p:nvPr/>
        </p:nvSpPr>
        <p:spPr>
          <a:xfrm>
            <a:off x="210312" y="2542032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5488" y="2523744"/>
            <a:ext cx="93268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7" name="Text 65"/>
          <p:cNvSpPr/>
          <p:nvPr/>
        </p:nvSpPr>
        <p:spPr>
          <a:xfrm>
            <a:off x="502920" y="2542032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avanzada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408176" y="2523744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9" name="Text 67"/>
          <p:cNvSpPr/>
          <p:nvPr/>
        </p:nvSpPr>
        <p:spPr>
          <a:xfrm>
            <a:off x="1435608" y="254203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12848" y="2523744"/>
            <a:ext cx="804672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1" name="Text 69"/>
          <p:cNvSpPr/>
          <p:nvPr/>
        </p:nvSpPr>
        <p:spPr>
          <a:xfrm>
            <a:off x="2240280" y="254203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017520" y="2523744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3" name="Text 71"/>
          <p:cNvSpPr/>
          <p:nvPr/>
        </p:nvSpPr>
        <p:spPr>
          <a:xfrm>
            <a:off x="3044952" y="2542032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values — mejor modelo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82880" y="2738628"/>
            <a:ext cx="29260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5" name="Text 73"/>
          <p:cNvSpPr/>
          <p:nvPr/>
        </p:nvSpPr>
        <p:spPr>
          <a:xfrm>
            <a:off x="210312" y="2756916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75488" y="2738628"/>
            <a:ext cx="93268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7" name="Text 75"/>
          <p:cNvSpPr/>
          <p:nvPr/>
        </p:nvSpPr>
        <p:spPr>
          <a:xfrm>
            <a:off x="502920" y="2756916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avanzada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408176" y="2738628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9" name="Text 77"/>
          <p:cNvSpPr/>
          <p:nvPr/>
        </p:nvSpPr>
        <p:spPr>
          <a:xfrm>
            <a:off x="1435608" y="275691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212848" y="2738628"/>
            <a:ext cx="804672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1" name="Text 79"/>
          <p:cNvSpPr/>
          <p:nvPr/>
        </p:nvSpPr>
        <p:spPr>
          <a:xfrm>
            <a:off x="2240280" y="275691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3017520" y="2738628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3" name="Text 81"/>
          <p:cNvSpPr/>
          <p:nvPr/>
        </p:nvSpPr>
        <p:spPr>
          <a:xfrm>
            <a:off x="3044952" y="2756916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 por temporada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182880" y="2953512"/>
            <a:ext cx="29260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5" name="Text 83"/>
          <p:cNvSpPr/>
          <p:nvPr/>
        </p:nvSpPr>
        <p:spPr>
          <a:xfrm>
            <a:off x="210312" y="2971800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475488" y="2953512"/>
            <a:ext cx="93268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7" name="Text 85"/>
          <p:cNvSpPr/>
          <p:nvPr/>
        </p:nvSpPr>
        <p:spPr>
          <a:xfrm>
            <a:off x="502920" y="2971800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avanzada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408176" y="2953512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9" name="Text 87"/>
          <p:cNvSpPr/>
          <p:nvPr/>
        </p:nvSpPr>
        <p:spPr>
          <a:xfrm>
            <a:off x="1435608" y="297180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212848" y="2953512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1" name="Text 89"/>
          <p:cNvSpPr/>
          <p:nvPr/>
        </p:nvSpPr>
        <p:spPr>
          <a:xfrm>
            <a:off x="2240280" y="297180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017520" y="2953512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3" name="Text 91"/>
          <p:cNvSpPr/>
          <p:nvPr/>
        </p:nvSpPr>
        <p:spPr>
          <a:xfrm>
            <a:off x="3044952" y="2971800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teórico (6 papers)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182880" y="3168396"/>
            <a:ext cx="29260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5" name="Text 93"/>
          <p:cNvSpPr/>
          <p:nvPr/>
        </p:nvSpPr>
        <p:spPr>
          <a:xfrm>
            <a:off x="210312" y="3186684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75488" y="3168396"/>
            <a:ext cx="932688" cy="205740"/>
          </a:xfrm>
          <a:prstGeom prst="rect">
            <a:avLst/>
          </a:prstGeom>
          <a:solidFill>
            <a:srgbClr val="C0DD9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7" name="Text 95"/>
          <p:cNvSpPr/>
          <p:nvPr/>
        </p:nvSpPr>
        <p:spPr>
          <a:xfrm>
            <a:off x="502920" y="3186684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avanzada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1408176" y="3168396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9" name="Text 97"/>
          <p:cNvSpPr/>
          <p:nvPr/>
        </p:nvSpPr>
        <p:spPr>
          <a:xfrm>
            <a:off x="1435608" y="318668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2212848" y="3168396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1" name="Text 99"/>
          <p:cNvSpPr/>
          <p:nvPr/>
        </p:nvSpPr>
        <p:spPr>
          <a:xfrm>
            <a:off x="2240280" y="318668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017520" y="3168396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3" name="Text 101"/>
          <p:cNvSpPr/>
          <p:nvPr/>
        </p:nvSpPr>
        <p:spPr>
          <a:xfrm>
            <a:off x="3044952" y="3186684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y pipeline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182880" y="3383280"/>
            <a:ext cx="29260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5" name="Text 103"/>
          <p:cNvSpPr/>
          <p:nvPr/>
        </p:nvSpPr>
        <p:spPr>
          <a:xfrm>
            <a:off x="210312" y="3401568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75488" y="3383280"/>
            <a:ext cx="93268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7" name="Text 105"/>
          <p:cNvSpPr/>
          <p:nvPr/>
        </p:nvSpPr>
        <p:spPr>
          <a:xfrm>
            <a:off x="502920" y="3401568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resultados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1408176" y="3383280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9" name="Text 107"/>
          <p:cNvSpPr/>
          <p:nvPr/>
        </p:nvSpPr>
        <p:spPr>
          <a:xfrm>
            <a:off x="1435608" y="340156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2212848" y="3383280"/>
            <a:ext cx="804672" cy="205740"/>
          </a:xfrm>
          <a:prstGeom prst="rect">
            <a:avLst/>
          </a:prstGeom>
          <a:solidFill>
            <a:srgbClr val="FBEAF0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1" name="Text 109"/>
          <p:cNvSpPr/>
          <p:nvPr/>
        </p:nvSpPr>
        <p:spPr>
          <a:xfrm>
            <a:off x="2240280" y="340156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017520" y="3383280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3" name="Text 111"/>
          <p:cNvSpPr/>
          <p:nvPr/>
        </p:nvSpPr>
        <p:spPr>
          <a:xfrm>
            <a:off x="3044952" y="3401568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finales (SHAP+calib.)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182880" y="3598164"/>
            <a:ext cx="29260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5" name="Text 113"/>
          <p:cNvSpPr/>
          <p:nvPr/>
        </p:nvSpPr>
        <p:spPr>
          <a:xfrm>
            <a:off x="210312" y="3616452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75488" y="3598164"/>
            <a:ext cx="93268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7" name="Text 115"/>
          <p:cNvSpPr/>
          <p:nvPr/>
        </p:nvSpPr>
        <p:spPr>
          <a:xfrm>
            <a:off x="502920" y="3616452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resultados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1408176" y="3598164"/>
            <a:ext cx="804672" cy="205740"/>
          </a:xfrm>
          <a:prstGeom prst="rect">
            <a:avLst/>
          </a:prstGeom>
          <a:solidFill>
            <a:srgbClr val="EEEDF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9" name="Text 117"/>
          <p:cNvSpPr/>
          <p:nvPr/>
        </p:nvSpPr>
        <p:spPr>
          <a:xfrm>
            <a:off x="1435608" y="361645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2212848" y="3598164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1" name="Text 119"/>
          <p:cNvSpPr/>
          <p:nvPr/>
        </p:nvSpPr>
        <p:spPr>
          <a:xfrm>
            <a:off x="2240280" y="361645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017520" y="3598164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3" name="Text 121"/>
          <p:cNvSpPr/>
          <p:nvPr/>
        </p:nvSpPr>
        <p:spPr>
          <a:xfrm>
            <a:off x="3044952" y="3616452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de resultados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182880" y="3813048"/>
            <a:ext cx="29260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5" name="Text 123"/>
          <p:cNvSpPr/>
          <p:nvPr/>
        </p:nvSpPr>
        <p:spPr>
          <a:xfrm>
            <a:off x="210312" y="3831336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475488" y="3813048"/>
            <a:ext cx="93268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7" name="Text 125"/>
          <p:cNvSpPr/>
          <p:nvPr/>
        </p:nvSpPr>
        <p:spPr>
          <a:xfrm>
            <a:off x="502920" y="3831336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resultados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408176" y="3813048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9" name="Text 127"/>
          <p:cNvSpPr/>
          <p:nvPr/>
        </p:nvSpPr>
        <p:spPr>
          <a:xfrm>
            <a:off x="1435608" y="383133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2212848" y="3813048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1" name="Text 129"/>
          <p:cNvSpPr/>
          <p:nvPr/>
        </p:nvSpPr>
        <p:spPr>
          <a:xfrm>
            <a:off x="2240280" y="3831336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3017520" y="3813048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3" name="Text 131"/>
          <p:cNvSpPr/>
          <p:nvPr/>
        </p:nvSpPr>
        <p:spPr>
          <a:xfrm>
            <a:off x="3044952" y="3831336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Discusión y limitaciones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182880" y="4027932"/>
            <a:ext cx="29260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5" name="Text 133"/>
          <p:cNvSpPr/>
          <p:nvPr/>
        </p:nvSpPr>
        <p:spPr>
          <a:xfrm>
            <a:off x="210312" y="4046220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475488" y="4027932"/>
            <a:ext cx="932688" cy="205740"/>
          </a:xfrm>
          <a:prstGeom prst="rect">
            <a:avLst/>
          </a:prstGeom>
          <a:solidFill>
            <a:srgbClr val="FAC775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7" name="Text 135"/>
          <p:cNvSpPr/>
          <p:nvPr/>
        </p:nvSpPr>
        <p:spPr>
          <a:xfrm>
            <a:off x="502920" y="4046220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y resultados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1408176" y="4027932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9" name="Text 137"/>
          <p:cNvSpPr/>
          <p:nvPr/>
        </p:nvSpPr>
        <p:spPr>
          <a:xfrm>
            <a:off x="1435608" y="404622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212848" y="4027932"/>
            <a:ext cx="804672" cy="205740"/>
          </a:xfrm>
          <a:prstGeom prst="rect">
            <a:avLst/>
          </a:prstGeom>
          <a:solidFill>
            <a:srgbClr val="FCEBE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1" name="Text 139"/>
          <p:cNvSpPr/>
          <p:nvPr/>
        </p:nvSpPr>
        <p:spPr>
          <a:xfrm>
            <a:off x="2240280" y="4046220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3017520" y="4027932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3" name="Text 141"/>
          <p:cNvSpPr/>
          <p:nvPr/>
        </p:nvSpPr>
        <p:spPr>
          <a:xfrm>
            <a:off x="3044952" y="4046220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errores del modelo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182880" y="4242816"/>
            <a:ext cx="29260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5" name="Text 143"/>
          <p:cNvSpPr/>
          <p:nvPr/>
        </p:nvSpPr>
        <p:spPr>
          <a:xfrm>
            <a:off x="210312" y="4261104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475488" y="4242816"/>
            <a:ext cx="93268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7" name="Text 145"/>
          <p:cNvSpPr/>
          <p:nvPr/>
        </p:nvSpPr>
        <p:spPr>
          <a:xfrm>
            <a:off x="502920" y="4261104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entrega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1408176" y="4242816"/>
            <a:ext cx="804672" cy="205740"/>
          </a:xfrm>
          <a:prstGeom prst="rect">
            <a:avLst/>
          </a:prstGeom>
          <a:solidFill>
            <a:srgbClr val="EEEDF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9" name="Text 147"/>
          <p:cNvSpPr/>
          <p:nvPr/>
        </p:nvSpPr>
        <p:spPr>
          <a:xfrm>
            <a:off x="1435608" y="426110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5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2212848" y="4242816"/>
            <a:ext cx="804672" cy="205740"/>
          </a:xfrm>
          <a:prstGeom prst="rect">
            <a:avLst/>
          </a:prstGeom>
          <a:solidFill>
            <a:srgbClr val="FAECE7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1" name="Text 149"/>
          <p:cNvSpPr/>
          <p:nvPr/>
        </p:nvSpPr>
        <p:spPr>
          <a:xfrm>
            <a:off x="2240280" y="4261104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3017520" y="4242816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3" name="Text 151"/>
          <p:cNvSpPr/>
          <p:nvPr/>
        </p:nvSpPr>
        <p:spPr>
          <a:xfrm>
            <a:off x="3044952" y="4261104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revisión APA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182880" y="4457700"/>
            <a:ext cx="29260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5" name="Text 153"/>
          <p:cNvSpPr/>
          <p:nvPr/>
        </p:nvSpPr>
        <p:spPr>
          <a:xfrm>
            <a:off x="210312" y="4475988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475488" y="4457700"/>
            <a:ext cx="93268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7" name="Text 155"/>
          <p:cNvSpPr/>
          <p:nvPr/>
        </p:nvSpPr>
        <p:spPr>
          <a:xfrm>
            <a:off x="502920" y="4475988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entrega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1408176" y="4457700"/>
            <a:ext cx="804672" cy="205740"/>
          </a:xfrm>
          <a:prstGeom prst="rect">
            <a:avLst/>
          </a:prstGeom>
          <a:solidFill>
            <a:srgbClr val="E1F5EE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9" name="Text 157"/>
          <p:cNvSpPr/>
          <p:nvPr/>
        </p:nvSpPr>
        <p:spPr>
          <a:xfrm>
            <a:off x="1435608" y="447598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</a:t>
            </a:r>
            <a:endParaRPr lang="en-US" sz="850" dirty="0"/>
          </a:p>
        </p:txBody>
      </p:sp>
      <p:sp>
        <p:nvSpPr>
          <p:cNvPr id="160" name="Shape 158"/>
          <p:cNvSpPr/>
          <p:nvPr/>
        </p:nvSpPr>
        <p:spPr>
          <a:xfrm>
            <a:off x="2212848" y="4457700"/>
            <a:ext cx="804672" cy="205740"/>
          </a:xfrm>
          <a:prstGeom prst="rect">
            <a:avLst/>
          </a:prstGeom>
          <a:solidFill>
            <a:srgbClr val="FBEAF0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1" name="Text 159"/>
          <p:cNvSpPr/>
          <p:nvPr/>
        </p:nvSpPr>
        <p:spPr>
          <a:xfrm>
            <a:off x="2240280" y="4475988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3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3017520" y="4457700"/>
            <a:ext cx="3200400" cy="205740"/>
          </a:xfrm>
          <a:prstGeom prst="rect">
            <a:avLst/>
          </a:prstGeom>
          <a:solidFill>
            <a:srgbClr val="F8F7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3" name="Text 161"/>
          <p:cNvSpPr/>
          <p:nvPr/>
        </p:nvSpPr>
        <p:spPr>
          <a:xfrm>
            <a:off x="3044952" y="4475988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y demo del modelo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182880" y="4672584"/>
            <a:ext cx="29260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5" name="Text 163"/>
          <p:cNvSpPr/>
          <p:nvPr/>
        </p:nvSpPr>
        <p:spPr>
          <a:xfrm>
            <a:off x="210312" y="4690872"/>
            <a:ext cx="246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475488" y="4672584"/>
            <a:ext cx="932688" cy="205740"/>
          </a:xfrm>
          <a:prstGeom prst="rect">
            <a:avLst/>
          </a:prstGeom>
          <a:solidFill>
            <a:srgbClr val="F4C0D1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7" name="Text 165"/>
          <p:cNvSpPr/>
          <p:nvPr/>
        </p:nvSpPr>
        <p:spPr>
          <a:xfrm>
            <a:off x="502920" y="4690872"/>
            <a:ext cx="886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224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entrega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1408176" y="4672584"/>
            <a:ext cx="804672" cy="205740"/>
          </a:xfrm>
          <a:prstGeom prst="rect">
            <a:avLst/>
          </a:prstGeom>
          <a:solidFill>
            <a:srgbClr val="E6F1FB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9" name="Text 167"/>
          <p:cNvSpPr/>
          <p:nvPr/>
        </p:nvSpPr>
        <p:spPr>
          <a:xfrm>
            <a:off x="1435608" y="469087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Sebastián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2212848" y="4672584"/>
            <a:ext cx="804672" cy="205740"/>
          </a:xfrm>
          <a:prstGeom prst="rect">
            <a:avLst/>
          </a:prstGeom>
          <a:solidFill>
            <a:srgbClr val="FAEEDA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1" name="Text 169"/>
          <p:cNvSpPr/>
          <p:nvPr/>
        </p:nvSpPr>
        <p:spPr>
          <a:xfrm>
            <a:off x="2240280" y="4690872"/>
            <a:ext cx="758952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Modelado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3017520" y="4672584"/>
            <a:ext cx="32004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7E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3" name="Text 171"/>
          <p:cNvSpPr/>
          <p:nvPr/>
        </p:nvSpPr>
        <p:spPr>
          <a:xfrm>
            <a:off x="3044952" y="4690872"/>
            <a:ext cx="3154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Repositorio y README final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6B5BD2">
              <a:alpha val="20000"/>
            </a:srgbClr>
          </a:solidFill>
          <a:ln w="12700">
            <a:solidFill>
              <a:srgbClr val="6B5BD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hemos hecho y lo que viene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572000" cy="0"/>
          </a:xfrm>
          <a:prstGeom prst="line">
            <a:avLst/>
          </a:prstGeom>
          <a:noFill/>
          <a:ln w="19050">
            <a:solidFill>
              <a:srgbClr val="6B5BD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3.634 partidos con 98 features — listo y sin valores nulos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414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2487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modelos entrenados: GBM lidera con 74.69% accuracy, +12pp sobre el mercado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083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05409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Forest: mejor ROC-AUC (0.8027) y Brier Score (0.1808)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753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36210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9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Pendiente: SHAP values, hyperparameter tuning y redacción del informe completo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Anakin Benavides  ·  Sebastián Valdovinos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1315</Words>
  <Application>Microsoft Office PowerPoint</Application>
  <PresentationFormat>Presentación en pantalla (16:9)</PresentationFormat>
  <Paragraphs>296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Predictivo Premier League</dc:title>
  <dc:subject>PptxGenJS Presentation</dc:subject>
  <dc:creator>Anakin Benavides &amp; Sebastián Valdovinos</dc:creator>
  <cp:lastModifiedBy>VALDOVINOS BRAVO SEBASTIÁN I</cp:lastModifiedBy>
  <cp:revision>2</cp:revision>
  <dcterms:created xsi:type="dcterms:W3CDTF">2026-06-11T22:49:55Z</dcterms:created>
  <dcterms:modified xsi:type="dcterms:W3CDTF">2026-06-11T23:00:21Z</dcterms:modified>
</cp:coreProperties>
</file>